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9" r:id="rId5"/>
    <p:sldId id="277" r:id="rId6"/>
    <p:sldId id="260" r:id="rId7"/>
    <p:sldId id="258" r:id="rId8"/>
    <p:sldId id="261" r:id="rId9"/>
    <p:sldId id="26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60"/>
  </p:normalViewPr>
  <p:slideViewPr>
    <p:cSldViewPr snapToGrid="0">
      <p:cViewPr varScale="1">
        <p:scale>
          <a:sx n="110" d="100"/>
          <a:sy n="110" d="100"/>
        </p:scale>
        <p:origin x="20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268E4-2BB0-A0E7-4BC9-029325B27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DB6C9-A4C2-2E1D-A7D5-FD5DC4BCC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F3212-9791-5796-3ED5-D691BF4E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45251-E5A0-4977-AB69-3EAD80CB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622EA-3163-36B5-00DE-0D2FFBC6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12397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6068-926E-0BEF-FE05-B653AE93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24F8F-7411-6EDA-6F15-01FEEE93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EED9D-03AD-8228-7613-98E69D17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3B835-1555-A1AE-7C43-E7FDFB859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C40B2-A921-9BF7-B392-F317919B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153228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8E02-556B-F734-2E94-E726BB4F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2A262-0DB1-2A13-ACDA-1100EBC3B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E9E84-0B72-9B9F-0DDC-CFA6B1B5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F09C-BDD0-D09A-89AC-BEB7E5D5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4F18D-C74C-7128-03CB-63968819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199958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6B9D-1CD6-EAA9-A338-389EFFC8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F9932-F4BA-BBCF-BB31-11FCB0CEF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402C6-BEF5-94CE-419F-3C58CB8BA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49251-1888-FCC8-5372-6144AA4D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1D44E-BD2B-4AAA-420C-1C4F27B8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BC1A1-E34F-9CF1-0936-11095F65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429050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A4F0-D2AA-2DDB-BD10-ED0853B1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8CF28-EBFC-258B-9563-F6F4485EB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7D286-2066-5D1E-A493-6B2750AF0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82CC1-B5C0-7504-5FB8-CAB590106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36B44-81C4-9BE8-9F48-6C46967C9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C5070-E6AB-5AC5-7B6B-089E0C4B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6BFE8C-AB6D-2247-5212-A6D33890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AD3C2-5D23-A507-F3C2-DE52D1B87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83962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E752-7983-5033-2A52-C8D59903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3E51CE-8715-5532-E154-895DA953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6CC5D-2DA3-BFBA-5302-5610BF25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35B7C-F119-E389-6A99-7F4DB8AE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329238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D14A7-EB8B-C914-32F3-0726694D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26114-400C-59E6-487C-7DE06C16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F93E4-45FD-6EC8-C524-AD1869FA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851317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FC339-400C-076D-4F57-53FA3254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B8BE-8137-F611-77FF-B6B197898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0BC94-9D2D-3D36-3184-B02FF5B68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D6995-F9B4-22A0-8C27-271600B3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5F2DA-7726-6CE0-2AF0-DEA6B152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5204C-A8B4-0F02-F518-17B5686F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19105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5C541-44D6-FA36-B93A-17277909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DBCDA-BB30-E8DB-C544-6EE7C8B1C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0B34F-84C5-8E63-9D19-63A7EB1D4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39163-338A-118E-433C-005B5FFD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F798D-F064-CD34-E981-DC628296A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677B4-2DFB-4393-F654-8C0FD25C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72807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A5FA-CA0E-C881-F1FF-1D2FD9AB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220B0-5467-710E-69B6-C3B7784E9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9F50F-E590-2C7D-F3BF-E0812DA8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3050-BEF7-92FF-F54B-8885D8D2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2F4A4-3264-6C1B-BD31-A6494E88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412873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9C755C-DA4C-1BD9-DE20-97AB9B5BF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ED62B-E42D-8025-3E2C-8D4B099D2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B37AF-85D2-15A8-28AC-1484E15E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04FE1-6D17-80A1-2E2C-B0F7D726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B0CA3-CD04-2BF0-48FC-5846D0AA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362970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268E4-2BB0-A0E7-4BC9-029325B27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DB6C9-A4C2-2E1D-A7D5-FD5DC4BCC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F3212-9791-5796-3ED5-D691BF4E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45251-E5A0-4977-AB69-3EAD80CB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622EA-3163-36B5-00DE-0D2FFBC6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123972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6068-926E-0BEF-FE05-B653AE93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24F8F-7411-6EDA-6F15-01FEEE93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EED9D-03AD-8228-7613-98E69D17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3B835-1555-A1AE-7C43-E7FDFB859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C40B2-A921-9BF7-B392-F317919B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1532286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8E02-556B-F734-2E94-E726BB4F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2A262-0DB1-2A13-ACDA-1100EBC3B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E9E84-0B72-9B9F-0DDC-CFA6B1B5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F09C-BDD0-D09A-89AC-BEB7E5D5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4F18D-C74C-7128-03CB-63968819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1999584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6B9D-1CD6-EAA9-A338-389EFFC8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F9932-F4BA-BBCF-BB31-11FCB0CEF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402C6-BEF5-94CE-419F-3C58CB8BA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49251-1888-FCC8-5372-6144AA4D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1D44E-BD2B-4AAA-420C-1C4F27B8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BC1A1-E34F-9CF1-0936-11095F65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4290501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A4F0-D2AA-2DDB-BD10-ED0853B1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8CF28-EBFC-258B-9563-F6F4485EB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7D286-2066-5D1E-A493-6B2750AF0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82CC1-B5C0-7504-5FB8-CAB590106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36B44-81C4-9BE8-9F48-6C46967C9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C5070-E6AB-5AC5-7B6B-089E0C4B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6BFE8C-AB6D-2247-5212-A6D33890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AD3C2-5D23-A507-F3C2-DE52D1B87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839627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E752-7983-5033-2A52-C8D59903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3E51CE-8715-5532-E154-895DA953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6CC5D-2DA3-BFBA-5302-5610BF25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35B7C-F119-E389-6A99-7F4DB8AE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329238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D14A7-EB8B-C914-32F3-0726694D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26114-400C-59E6-487C-7DE06C16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F93E4-45FD-6EC8-C524-AD1869FA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851317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FC339-400C-076D-4F57-53FA3254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B8BE-8137-F611-77FF-B6B197898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0BC94-9D2D-3D36-3184-B02FF5B68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D6995-F9B4-22A0-8C27-271600B3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5F2DA-7726-6CE0-2AF0-DEA6B152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5204C-A8B4-0F02-F518-17B5686F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191055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5C541-44D6-FA36-B93A-17277909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DBCDA-BB30-E8DB-C544-6EE7C8B1C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0B34F-84C5-8E63-9D19-63A7EB1D4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39163-338A-118E-433C-005B5FFD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F798D-F064-CD34-E981-DC628296A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677B4-2DFB-4393-F654-8C0FD25C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728070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A5FA-CA0E-C881-F1FF-1D2FD9AB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220B0-5467-710E-69B6-C3B7784E9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9F50F-E590-2C7D-F3BF-E0812DA8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3050-BEF7-92FF-F54B-8885D8D2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2F4A4-3264-6C1B-BD31-A6494E88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41287336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9C755C-DA4C-1BD9-DE20-97AB9B5BF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ED62B-E42D-8025-3E2C-8D4B099D2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B37AF-85D2-15A8-28AC-1484E15E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04FE1-6D17-80A1-2E2C-B0F7D726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B0CA3-CD04-2BF0-48FC-5846D0AA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36297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A4D7ED-6942-2C18-A1DB-7CA580E0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2A2B-C31E-1B1B-1EF3-140809EF7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0F5FA-DC21-A0A0-B9E2-09421D441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C7C7C-58AB-C37F-E7C4-2CB437740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37775-44A1-FF14-1A4F-67C9ED8C5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71552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A4D7ED-6942-2C18-A1DB-7CA580E0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2A2B-C31E-1B1B-1EF3-140809EF7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0F5FA-DC21-A0A0-B9E2-09421D441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0977D-87E0-2140-895F-818759D52E14}" type="datetimeFigureOut">
              <a:rPr lang="en-MN" smtClean="0"/>
              <a:t>2026.07.01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C7C7C-58AB-C37F-E7C4-2CB437740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37775-44A1-FF14-1A4F-67C9ED8C5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1F95F-8625-224B-B126-3092602E8E3C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71552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1FB2B-01B9-CF3C-977F-93992E38E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359" y="4256483"/>
            <a:ext cx="5409655" cy="1008099"/>
          </a:xfrm>
        </p:spPr>
        <p:txBody>
          <a:bodyPr>
            <a:normAutofit/>
          </a:bodyPr>
          <a:lstStyle/>
          <a:p>
            <a:pPr algn="l"/>
            <a:r>
              <a:rPr lang="en-US" sz="5600" b="1" dirty="0">
                <a:solidFill>
                  <a:srgbClr val="FFFFFF"/>
                </a:solidFill>
              </a:rPr>
              <a:t>Workshop</a:t>
            </a:r>
            <a:endParaRPr lang="en-MN" sz="5600" b="1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70103-1166-FC29-046A-CB6D3EBD8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1124" y="5367158"/>
            <a:ext cx="6351149" cy="1198120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From Your First Model to Enterprise-Scale Pipelines</a:t>
            </a:r>
            <a:endParaRPr lang="en-MN" sz="2000" dirty="0">
              <a:solidFill>
                <a:schemeClr val="bg1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 Beginner's Guide to DBT (data build tool) — Part 1 ...">
            <a:extLst>
              <a:ext uri="{FF2B5EF4-FFF2-40B4-BE49-F238E27FC236}">
                <a16:creationId xmlns:a16="http://schemas.microsoft.com/office/drawing/2014/main" id="{E4A73837-C244-195C-58A6-BAAB5B98E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703" y="3842077"/>
            <a:ext cx="3556772" cy="177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03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DCFD-1085-C4AD-9D59-FE109593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0B51D-0AE9-C3C3-898D-9CA8A1FF1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4260506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50ED-260D-F187-1C29-DA086CC5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16097"/>
            <a:ext cx="4597747" cy="672013"/>
          </a:xfrm>
        </p:spPr>
        <p:txBody>
          <a:bodyPr anchor="b">
            <a:normAutofit/>
          </a:bodyPr>
          <a:lstStyle/>
          <a:p>
            <a:r>
              <a:rPr lang="en-MN" sz="3200" dirty="0">
                <a:solidFill>
                  <a:schemeClr val="accent2">
                    <a:lumMod val="75000"/>
                  </a:schemeClr>
                </a:solidFill>
              </a:rPr>
              <a:t>The Modern Data Stack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3DD2585-1F3B-9B1C-EAF0-1252AB11E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6693" y="1498294"/>
            <a:ext cx="4597746" cy="44830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Architecture</a:t>
            </a:r>
            <a:r>
              <a:rPr kumimoji="0" lang="en-MN" altLang="en-M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A suite of cloud-native or self-hosted tools, each specialized for one job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ELT, not ETL</a:t>
            </a:r>
            <a:r>
              <a:rPr kumimoji="0" lang="en-MN" altLang="en-M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Load raw data first, then transform it in place; enabled by cheap, elastic cloud storage and compute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MN" altLang="en-MN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Ingestion</a:t>
            </a:r>
            <a:r>
              <a:rPr kumimoji="0" lang="en-MN" altLang="en-M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Load source data as-is, without upfront transformation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MN" altLang="en-MN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Storage</a:t>
            </a:r>
            <a:r>
              <a:rPr kumimoji="0" lang="en-MN" altLang="en-M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Central warehouse or lakehouse where raw and modeled data lives (Iceberg, Snowflake, BigQuery)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MN" altLang="en-MN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Transformation</a:t>
            </a:r>
            <a:r>
              <a:rPr kumimoji="0" lang="en-MN" altLang="en-M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Model, clean, test, and document data after loading (dbt)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MN" altLang="en-MN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Serving / BI</a:t>
            </a:r>
            <a:r>
              <a:rPr kumimoji="0" lang="en-MN" altLang="en-M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Deliver analytics-ready data to dashboards and decisions (Tableau, Power BI)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Orchestration</a:t>
            </a:r>
            <a:r>
              <a:rPr kumimoji="0" lang="en-MN" altLang="en-M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Defines how and in what logical order each layer of the stack runs (Dagster, Airflow)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Governance</a:t>
            </a:r>
            <a:r>
              <a:rPr kumimoji="0" lang="en-MN" altLang="en-M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Catalog, lineage, and access control that keep data trusted and discoverable across all layers (OpenMetadata, Ataccama)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B4C0693-8062-057E-139C-CF137DE3F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237180"/>
            <a:ext cx="5319062" cy="484973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4392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iagram of the ecosystem surrounding dbt and the modern data stack.">
            <a:extLst>
              <a:ext uri="{FF2B5EF4-FFF2-40B4-BE49-F238E27FC236}">
                <a16:creationId xmlns:a16="http://schemas.microsoft.com/office/drawing/2014/main" id="{436BC6ED-3E45-79B7-02E6-2C448CF15C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70890"/>
            <a:ext cx="10905066" cy="531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491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420F-5263-C02A-77BD-5EE92D52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N" dirty="0">
                <a:solidFill>
                  <a:schemeClr val="accent2">
                    <a:lumMod val="75000"/>
                  </a:schemeClr>
                </a:solidFill>
              </a:rPr>
              <a:t>Why this stack emerged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E4352C-B6FB-9681-D20C-D505A7CEE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2823"/>
            <a:ext cx="6673622" cy="277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N" altLang="en-M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warehouses made storage cheap and compute elastic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Separation of storage and compute changed the economics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Loading raw data first became viable → transform later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Shift from monolithic platforms to modular "best-of-breed" tools</a:t>
            </a:r>
          </a:p>
        </p:txBody>
      </p:sp>
    </p:spTree>
    <p:extLst>
      <p:ext uri="{BB962C8B-B14F-4D97-AF65-F5344CB8AC3E}">
        <p14:creationId xmlns:p14="http://schemas.microsoft.com/office/powerpoint/2010/main" val="189884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881C-8B27-77D4-6BE8-141B5799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N" dirty="0">
                <a:solidFill>
                  <a:schemeClr val="accent2">
                    <a:lumMod val="75000"/>
                  </a:schemeClr>
                </a:solidFill>
              </a:rPr>
              <a:t>What is dbt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DD314-DF04-7899-EEEE-19087D067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186"/>
            <a:ext cx="10515600" cy="4351338"/>
          </a:xfrm>
        </p:spPr>
        <p:txBody>
          <a:bodyPr/>
          <a:lstStyle/>
          <a:p>
            <a:r>
              <a:rPr lang="en-US" dirty="0" err="1"/>
              <a:t>dbt</a:t>
            </a:r>
            <a:r>
              <a:rPr lang="en-US" dirty="0"/>
              <a:t> (data build tool) transforms raw data already in your warehouse into clean, analytics-ready tables — using just SQL.</a:t>
            </a:r>
          </a:p>
          <a:p>
            <a:r>
              <a:rPr lang="en-US" dirty="0"/>
              <a:t>Maintained by </a:t>
            </a:r>
            <a:r>
              <a:rPr lang="en-US" dirty="0" err="1"/>
              <a:t>dbt</a:t>
            </a:r>
            <a:r>
              <a:rPr lang="en-US" dirty="0"/>
              <a:t> labs</a:t>
            </a:r>
          </a:p>
        </p:txBody>
      </p:sp>
      <p:pic>
        <p:nvPicPr>
          <p:cNvPr id="4098" name="Picture 2" descr="What on Earth is…dbt?. The orange logo that looks like a ...">
            <a:extLst>
              <a:ext uri="{FF2B5EF4-FFF2-40B4-BE49-F238E27FC236}">
                <a16:creationId xmlns:a16="http://schemas.microsoft.com/office/drawing/2014/main" id="{C938B2E9-04AC-1CAE-36AD-C7635AC5C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856" y="3840090"/>
            <a:ext cx="3872122" cy="147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bt Labs Redefines dbt with New Fusion Engine, Built to ...">
            <a:extLst>
              <a:ext uri="{FF2B5EF4-FFF2-40B4-BE49-F238E27FC236}">
                <a16:creationId xmlns:a16="http://schemas.microsoft.com/office/drawing/2014/main" id="{E28F781E-3C5D-2A64-C002-4E0DB36FD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729" y="3263158"/>
            <a:ext cx="4759535" cy="249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71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725D-DFA5-FA90-768B-28EB75A6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N" dirty="0">
                <a:solidFill>
                  <a:schemeClr val="accent2">
                    <a:lumMod val="75000"/>
                  </a:schemeClr>
                </a:solidFill>
              </a:rPr>
              <a:t>The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9C63D-648C-A5DE-29B5-B04DF8D55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5842000" cy="4351338"/>
          </a:xfrm>
        </p:spPr>
        <p:txBody>
          <a:bodyPr/>
          <a:lstStyle/>
          <a:p>
            <a:r>
              <a:rPr lang="en-US" dirty="0"/>
              <a:t>You write SELECT statements. </a:t>
            </a:r>
            <a:r>
              <a:rPr lang="en-US" dirty="0" err="1"/>
              <a:t>dbt</a:t>
            </a:r>
            <a:r>
              <a:rPr lang="en-US" dirty="0"/>
              <a:t> handles the engineering:</a:t>
            </a:r>
          </a:p>
          <a:p>
            <a:pPr lvl="1"/>
            <a:r>
              <a:rPr lang="en-US" dirty="0"/>
              <a:t>Creates tables and views</a:t>
            </a:r>
          </a:p>
          <a:p>
            <a:pPr lvl="1"/>
            <a:r>
              <a:rPr lang="en-US" dirty="0"/>
              <a:t>Figures out dependencies between models</a:t>
            </a:r>
          </a:p>
          <a:p>
            <a:pPr lvl="1"/>
            <a:r>
              <a:rPr lang="en-US" dirty="0"/>
              <a:t>Runs everything in the correct order</a:t>
            </a:r>
          </a:p>
          <a:p>
            <a:endParaRPr lang="en-MN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867006-DC33-3045-99A4-61596F8E7709}"/>
              </a:ext>
            </a:extLst>
          </p:cNvPr>
          <p:cNvSpPr/>
          <p:nvPr/>
        </p:nvSpPr>
        <p:spPr>
          <a:xfrm>
            <a:off x="7239000" y="1905000"/>
            <a:ext cx="4064000" cy="10160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SQL SELECT statements</a:t>
            </a:r>
            <a:endParaRPr lang="en-MN" sz="1600" b="1" dirty="0">
              <a:solidFill>
                <a:srgbClr val="FFFFFF"/>
              </a:solidFill>
            </a:endParaRP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397E0651-2B81-4643-91B9-F9290467006F}"/>
              </a:ext>
            </a:extLst>
          </p:cNvPr>
          <p:cNvSpPr/>
          <p:nvPr/>
        </p:nvSpPr>
        <p:spPr>
          <a:xfrm>
            <a:off x="8953500" y="2946400"/>
            <a:ext cx="635000" cy="381000"/>
          </a:xfrm>
          <a:prstGeom prst="down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M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10E68E-5E0C-9547-9C82-A5EF57A0D125}"/>
              </a:ext>
            </a:extLst>
          </p:cNvPr>
          <p:cNvSpPr/>
          <p:nvPr/>
        </p:nvSpPr>
        <p:spPr>
          <a:xfrm>
            <a:off x="7239000" y="3352800"/>
            <a:ext cx="4064000" cy="10160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</a:rPr>
              <a:t>dbt</a:t>
            </a:r>
            <a:r>
              <a:rPr lang="en-US" sz="1600" b="1" dirty="0">
                <a:solidFill>
                  <a:srgbClr val="FFFFFF"/>
                </a:solidFill>
              </a:rPr>
              <a:t> compiles &amp; runs</a:t>
            </a:r>
            <a:endParaRPr lang="en-MN" sz="1600" b="1" dirty="0">
              <a:solidFill>
                <a:srgbClr val="FFFFFF"/>
              </a:solidFill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C6A4482A-F7F7-CF4C-8EC3-C3C13D728BBC}"/>
              </a:ext>
            </a:extLst>
          </p:cNvPr>
          <p:cNvSpPr/>
          <p:nvPr/>
        </p:nvSpPr>
        <p:spPr>
          <a:xfrm>
            <a:off x="8953500" y="4394200"/>
            <a:ext cx="635000" cy="381000"/>
          </a:xfrm>
          <a:prstGeom prst="down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MN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8119617-4716-E34B-9820-A94F3D515606}"/>
              </a:ext>
            </a:extLst>
          </p:cNvPr>
          <p:cNvSpPr/>
          <p:nvPr/>
        </p:nvSpPr>
        <p:spPr>
          <a:xfrm>
            <a:off x="7239000" y="4800600"/>
            <a:ext cx="4064000" cy="10160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Tables &amp; views in your warehouse</a:t>
            </a:r>
            <a:endParaRPr lang="en-M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87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28DB-B238-FE79-1249-885F10F6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F280-C5FD-F303-1165-4C3F3E0E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N" dirty="0">
                <a:solidFill>
                  <a:schemeClr val="accent2">
                    <a:lumMod val="75000"/>
                  </a:schemeClr>
                </a:solidFill>
              </a:rPr>
              <a:t>How dbt works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F47803-8338-B4BE-017D-EA08C1DC74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4599336" cy="277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N" altLang="en-M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Write </a:t>
            </a:r>
            <a:r>
              <a:rPr kumimoji="0" lang="en-MN" altLang="en-M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(SQL files)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Link them with </a:t>
            </a: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ref()</a:t>
            </a: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source()</a:t>
            </a: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MN" altLang="en-M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dbt builds a </a:t>
            </a:r>
            <a:r>
              <a:rPr kumimoji="0" lang="en-MN" altLang="en-M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graph (DAG)</a:t>
            </a: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Runs, tests, and documents automatically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DAC06E-1652-79C9-C7AB-21E25CEFF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38981"/>
            <a:ext cx="4847291" cy="351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93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4C47-E401-77DC-D38F-C7751959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8FFE6-A6EC-AD04-BA55-27978638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N" dirty="0">
                <a:solidFill>
                  <a:schemeClr val="accent2">
                    <a:lumMod val="75000"/>
                  </a:schemeClr>
                </a:solidFill>
              </a:rPr>
              <a:t>What dbt brings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BCF11D-5CBD-F854-A54A-2AFC9F8200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2512" y="1331952"/>
            <a:ext cx="9231775" cy="4669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Modularity</a:t>
            </a:r>
            <a:r>
              <a:rPr kumimoji="0" lang="en-MN" altLang="en-M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reusable, layered models (staging → marts) 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Testing</a:t>
            </a:r>
            <a:r>
              <a:rPr kumimoji="0" lang="en-MN" altLang="en-M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catch bad data before it reaches dashboards 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  <a:r>
              <a:rPr kumimoji="0" lang="en-MN" altLang="en-M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auto-generated docs and lineage 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N" altLang="en-M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control</a:t>
            </a:r>
            <a:r>
              <a:rPr kumimoji="0" lang="en-MN" altLang="en-M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Git-based, like real software</a:t>
            </a:r>
          </a:p>
        </p:txBody>
      </p:sp>
      <p:pic>
        <p:nvPicPr>
          <p:cNvPr id="5" name="Graphic 5" descr="Modularity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2152" y="1508025"/>
            <a:ext cx="1232174" cy="1232174"/>
          </a:xfrm>
          <a:prstGeom prst="rect">
            <a:avLst/>
          </a:prstGeom>
        </p:spPr>
      </p:pic>
      <p:pic>
        <p:nvPicPr>
          <p:cNvPr id="6" name="Graphic 6" descr="Testing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89851" y="2932751"/>
            <a:ext cx="932887" cy="932887"/>
          </a:xfrm>
          <a:prstGeom prst="rect">
            <a:avLst/>
          </a:prstGeom>
        </p:spPr>
      </p:pic>
      <p:pic>
        <p:nvPicPr>
          <p:cNvPr id="7" name="Graphic 7" descr="Documentation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89851" y="4058190"/>
            <a:ext cx="1038185" cy="1038185"/>
          </a:xfrm>
          <a:prstGeom prst="rect">
            <a:avLst/>
          </a:prstGeom>
        </p:spPr>
      </p:pic>
      <p:pic>
        <p:nvPicPr>
          <p:cNvPr id="8" name="Graphic 8" descr="Version control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28237" y="5077228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2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5E5C-EBB6-1AC0-30EF-89797AC1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N" dirty="0">
                <a:solidFill>
                  <a:schemeClr val="accent2">
                    <a:lumMod val="75000"/>
                  </a:schemeClr>
                </a:solidFill>
              </a:rPr>
              <a:t>dbt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C906A-B79B-A8BE-E8E8-1ADDE106A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8000" cy="4351338"/>
          </a:xfrm>
        </p:spPr>
        <p:txBody>
          <a:bodyPr/>
          <a:lstStyle/>
          <a:p>
            <a:r>
              <a:rPr lang="en-US" dirty="0"/>
              <a:t>The free, open-source engine at the core of every dbt project</a:t>
            </a:r>
          </a:p>
          <a:p>
            <a:pPr lvl="1"/>
            <a:r>
              <a:rPr lang="en-US" dirty="0"/>
              <a:t>Installed locally via pip — no dbt Labs account needed</a:t>
            </a:r>
          </a:p>
          <a:p>
            <a:pPr lvl="1"/>
            <a:r>
              <a:rPr lang="en-US" dirty="0"/>
              <a:t>You write and run models from the command line</a:t>
            </a:r>
          </a:p>
          <a:p>
            <a:pPr lvl="1"/>
            <a:r>
              <a:rPr lang="en-US" dirty="0"/>
              <a:t>You bring your own scheduler, hosting, and CI/CD</a:t>
            </a:r>
          </a:p>
          <a:p>
            <a:r>
              <a:rPr lang="en-US" dirty="0"/>
              <a:t>Best for teams who want full control and are comfortable self-managing infrastructure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DA0DA8-E8B2-AA48-B38F-682E8F7E6418}"/>
              </a:ext>
            </a:extLst>
          </p:cNvPr>
          <p:cNvSpPr/>
          <p:nvPr/>
        </p:nvSpPr>
        <p:spPr>
          <a:xfrm>
            <a:off x="8382000" y="2413000"/>
            <a:ext cx="2032000" cy="2032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MN"/>
          </a:p>
        </p:txBody>
      </p:sp>
      <p:pic>
        <p:nvPicPr>
          <p:cNvPr id="5" name="Graphic 5" descr="Terminal icon for dbt Cor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0" y="2794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91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7E5E-6B85-9F4C-C84A-D646FDB39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N" dirty="0">
                <a:solidFill>
                  <a:schemeClr val="accent2">
                    <a:lumMod val="75000"/>
                  </a:schemeClr>
                </a:solidFill>
              </a:rPr>
              <a:t>dbt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CD735-FBF1-0ED7-C9E8-9E73E2BB4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8000" cy="4351338"/>
          </a:xfrm>
        </p:spPr>
        <p:txBody>
          <a:bodyPr/>
          <a:lstStyle/>
          <a:p>
            <a:r>
              <a:rPr lang="en-US" dirty="0"/>
              <a:t>dbt Labs' managed, browser-based platform built on top of dbt</a:t>
            </a:r>
          </a:p>
          <a:p>
            <a:pPr lvl="1"/>
            <a:r>
              <a:rPr lang="en-US" dirty="0"/>
              <a:t>Cloud IDE, job scheduler, and hosted docs — no local setup</a:t>
            </a:r>
          </a:p>
          <a:p>
            <a:pPr lvl="1"/>
            <a:r>
              <a:rPr lang="en-US" dirty="0"/>
              <a:t>Built-in CI/CD, alerting, and role-based access control</a:t>
            </a:r>
          </a:p>
          <a:p>
            <a:pPr lvl="1"/>
            <a:r>
              <a:rPr lang="en-US" dirty="0"/>
              <a:t>Adds the Semantic Layer, dbt Explorer, and an AI copilot (dbt Wizard)</a:t>
            </a:r>
          </a:p>
          <a:p>
            <a:r>
              <a:rPr lang="en-US" dirty="0"/>
              <a:t>Recently renamed the </a:t>
            </a:r>
            <a:r>
              <a:rPr lang="en-US" i="1" dirty="0"/>
              <a:t>dbt platform</a:t>
            </a:r>
            <a:r>
              <a:rPr lang="en-US" dirty="0"/>
              <a:t> — plans start free, with paid tiers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63B9A4-4A4E-4D42-A9D7-55CA6C22D16C}"/>
              </a:ext>
            </a:extLst>
          </p:cNvPr>
          <p:cNvSpPr/>
          <p:nvPr/>
        </p:nvSpPr>
        <p:spPr>
          <a:xfrm>
            <a:off x="8382000" y="2413000"/>
            <a:ext cx="2032000" cy="2032000"/>
          </a:xfrm>
          <a:prstGeom prst="ellipse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MN"/>
          </a:p>
        </p:txBody>
      </p:sp>
      <p:pic>
        <p:nvPicPr>
          <p:cNvPr id="5" name="Graphic 5" descr="Cloud icon for dbt Clou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0" y="2794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42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7C8F-806D-99A8-5636-8196E163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N" dirty="0">
                <a:solidFill>
                  <a:schemeClr val="accent2">
                    <a:lumMod val="75000"/>
                  </a:schemeClr>
                </a:solidFill>
              </a:rPr>
              <a:t>dbt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BB1D6-782C-70F3-036E-738F9A8F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8000" cy="4351338"/>
          </a:xfrm>
        </p:spPr>
        <p:txBody>
          <a:bodyPr/>
          <a:lstStyle/>
          <a:p>
            <a:r>
              <a:rPr lang="en-US" dirty="0" err="1"/>
              <a:t>dbt’s</a:t>
            </a:r>
            <a:r>
              <a:rPr lang="en-US" dirty="0"/>
              <a:t> next-generation engine — a ground-up rewrite in Rust</a:t>
            </a:r>
          </a:p>
          <a:p>
            <a:pPr lvl="1"/>
            <a:r>
              <a:rPr lang="en-US" dirty="0"/>
              <a:t>Understands SQL natively — validates queries before they hit the warehouse</a:t>
            </a:r>
          </a:p>
          <a:p>
            <a:pPr lvl="1"/>
            <a:r>
              <a:rPr lang="en-US" dirty="0"/>
              <a:t>Up to 30x faster parsing than dbt Core, plus column-level lineage</a:t>
            </a:r>
          </a:p>
          <a:p>
            <a:pPr lvl="1"/>
            <a:r>
              <a:rPr lang="en-US" dirty="0"/>
              <a:t>Powers both local development (CLI, VS Code) and the dbt platform</a:t>
            </a:r>
          </a:p>
          <a:p>
            <a:r>
              <a:rPr lang="en-US" dirty="0"/>
              <a:t>Launched in public beta May 2025 — designed to fully replace dbt Core's execution engine over time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BFC9D7-445F-F545-B6DE-4287A8C84CCB}"/>
              </a:ext>
            </a:extLst>
          </p:cNvPr>
          <p:cNvSpPr/>
          <p:nvPr/>
        </p:nvSpPr>
        <p:spPr>
          <a:xfrm>
            <a:off x="8382000" y="2413000"/>
            <a:ext cx="2032000" cy="2032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MN"/>
          </a:p>
        </p:txBody>
      </p:sp>
      <p:pic>
        <p:nvPicPr>
          <p:cNvPr id="5" name="Graphic 5" descr="Lightning bolt icon for dbt Fus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0" y="2794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9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22F968-EA97-A64A-A074-BDA190A0E3A6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557d4dd1-54c5-4928-ac9e-a9a826085c7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537</Words>
  <Application>Microsoft Macintosh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Unicode MS</vt:lpstr>
      <vt:lpstr>Aptos</vt:lpstr>
      <vt:lpstr>Aptos Display</vt:lpstr>
      <vt:lpstr>Arial</vt:lpstr>
      <vt:lpstr>Office Theme</vt:lpstr>
      <vt:lpstr>Office Theme</vt:lpstr>
      <vt:lpstr>Workshop</vt:lpstr>
      <vt:lpstr>PowerPoint Presentation</vt:lpstr>
      <vt:lpstr>The Modern Data Stack</vt:lpstr>
      <vt:lpstr>PowerPoint Presentation</vt:lpstr>
      <vt:lpstr>Why this stack emerged</vt:lpstr>
      <vt:lpstr>What is dbt</vt:lpstr>
      <vt:lpstr>The Core Idea</vt:lpstr>
      <vt:lpstr>How dbt works</vt:lpstr>
      <vt:lpstr>What dbt brings</vt:lpstr>
      <vt:lpstr>dbt Core</vt:lpstr>
      <vt:lpstr>dbt Cloud</vt:lpstr>
      <vt:lpstr>dbt Fusion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Tserendorj Battulga [NS]</dc:creator>
  <cp:lastModifiedBy>Tserendorj Battulga [NS]</cp:lastModifiedBy>
  <cp:revision>4</cp:revision>
  <dcterms:created xsi:type="dcterms:W3CDTF">2026-07-01T13:44:58Z</dcterms:created>
  <dcterms:modified xsi:type="dcterms:W3CDTF">2026-07-01T14:44:35Z</dcterms:modified>
</cp:coreProperties>
</file>